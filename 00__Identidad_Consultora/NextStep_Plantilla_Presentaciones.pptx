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Relationship Id="rId7" Type="http://schemas.openxmlformats.org/officeDocument/2006/relationships/slide" Target="slides/slide6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image" Target="../media/image1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 txBox="1"/>
          <p:nvPr/>
        </p:nvSpPr>
        <p:spPr>
          <a:xfrm>
            <a:off x="609600" y="508000"/>
            <a:ext cx="533400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lang="es-AR" sz="1000" b="0" i="0" dirty="0">
                <a:solidFill>
                  <a:srgbClr val="7D7677"/>
                </a:solidFill>
                <a:latin typeface="IBM Plex Mono"/>
              </a:rPr>
              <a:t>APLSI - CÁTEDRA PIORUN - 2026</a:t>
            </a:r>
          </a:p>
        </p:txBody>
      </p:sp>
      <p:pic>
        <p:nvPicPr>
          <p:cNvPr id="3" name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14095" y="406400"/>
            <a:ext cx="768305" cy="660400"/>
          </a:xfrm>
          <a:prstGeom prst="rect">
            <a:avLst/>
          </a:prstGeom>
        </p:spPr>
      </p:pic>
      <p:sp>
        <p:nvSpPr>
          <p:cNvPr id="4" name="TB4"/>
          <p:cNvSpPr txBox="1"/>
          <p:nvPr/>
        </p:nvSpPr>
        <p:spPr>
          <a:xfrm>
            <a:off x="609600" y="2222500"/>
            <a:ext cx="8128000" cy="1905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lang="es-AR" sz="4000" b="0" i="0" dirty="0">
                <a:solidFill>
                  <a:srgbClr val="6B2737"/>
                </a:solidFill>
                <a:latin typeface="Poppins ExtraBold"/>
              </a:rPr>
              <a:t>Diagnóstico y transformación digital</a:t>
            </a:r>
          </a:p>
        </p:txBody>
      </p:sp>
      <p:sp>
        <p:nvSpPr>
          <p:cNvPr id="5" name="TB5"/>
          <p:cNvSpPr txBox="1"/>
          <p:nvPr/>
        </p:nvSpPr>
        <p:spPr>
          <a:xfrm>
            <a:off x="609600" y="4064000"/>
            <a:ext cx="8128000" cy="508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lang="es-AR" sz="1800" b="0" i="1" dirty="0">
                <a:solidFill>
                  <a:srgbClr val="C2847A"/>
                </a:solidFill>
                <a:latin typeface="IBM Plex Serif"/>
              </a:rPr>
              <a:t>Caso IBER - retail especializado en vinos y productos gourmet</a:t>
            </a:r>
          </a:p>
        </p:txBody>
      </p:sp>
      <p:sp>
        <p:nvSpPr>
          <p:cNvPr id="6" name="Rect6"/>
          <p:cNvSpPr/>
          <p:nvPr/>
        </p:nvSpPr>
        <p:spPr>
          <a:xfrm>
            <a:off x="609600" y="5842000"/>
            <a:ext cx="10972800" cy="12700"/>
          </a:xfrm>
          <a:prstGeom prst="rect">
            <a:avLst/>
          </a:prstGeom>
          <a:solidFill>
            <a:srgbClr val="BAA898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B7"/>
          <p:cNvSpPr txBox="1"/>
          <p:nvPr/>
        </p:nvSpPr>
        <p:spPr>
          <a:xfrm>
            <a:off x="609600" y="5994400"/>
            <a:ext cx="6350000" cy="254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lang="es-AR" sz="900" b="0" i="0" dirty="0">
                <a:solidFill>
                  <a:srgbClr val="7D7677"/>
                </a:solidFill>
                <a:latin typeface="IBM Plex Mono"/>
              </a:rPr>
              <a:t>DE NARDO - IGNACIO - TORRES - MAGGIO - MARTÍNEZ - NAKASONE</a:t>
            </a:r>
          </a:p>
        </p:txBody>
      </p:sp>
      <p:sp>
        <p:nvSpPr>
          <p:cNvPr id="8" name="TB8"/>
          <p:cNvSpPr txBox="1"/>
          <p:nvPr/>
        </p:nvSpPr>
        <p:spPr>
          <a:xfrm>
            <a:off x="5232400" y="5994400"/>
            <a:ext cx="6350000" cy="254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lang="es-AR" sz="900" b="1" dirty="0">
                <a:solidFill>
                  <a:srgbClr val="6B2737"/>
                </a:solidFill>
                <a:latin typeface="IBM Plex Mono"/>
              </a:rPr>
              <a:t>SPONSOR</a:t>
            </a:r>
            <a:r>
              <a:rPr lang="es-AR" sz="900" b="0" dirty="0">
                <a:solidFill>
                  <a:srgbClr val="7D7677"/>
                </a:solidFill>
                <a:latin typeface="IBM Plex Mono"/>
              </a:rPr>
              <a:t>: SEBASTIÁN PENSADO - GERENTE COMERCIAL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 txBox="1"/>
          <p:nvPr/>
        </p:nvSpPr>
        <p:spPr>
          <a:xfrm>
            <a:off x="609600" y="698500"/>
            <a:ext cx="8890000" cy="635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lang="es-AR" sz="3000" b="1" dirty="0">
                <a:solidFill>
                  <a:srgbClr val="6B2737"/>
                </a:solidFill>
                <a:latin typeface="Poppins"/>
              </a:rPr>
              <a:t>Qué vamos a presentar hoy</a:t>
            </a:r>
          </a:p>
        </p:txBody>
      </p:sp>
      <p:sp>
        <p:nvSpPr>
          <p:cNvPr id="3" name="TB3"/>
          <p:cNvSpPr txBox="1"/>
          <p:nvPr/>
        </p:nvSpPr>
        <p:spPr>
          <a:xfrm>
            <a:off x="609600" y="1905000"/>
            <a:ext cx="698500" cy="431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lang="es-AR" sz="1600" b="0" dirty="0">
                <a:solidFill>
                  <a:srgbClr val="C2847A"/>
                </a:solidFill>
                <a:latin typeface="IBM Plex Mono SemiBold"/>
              </a:rPr>
              <a:t>01</a:t>
            </a:r>
          </a:p>
        </p:txBody>
      </p:sp>
      <p:sp>
        <p:nvSpPr>
          <p:cNvPr id="4" name="TB4"/>
          <p:cNvSpPr txBox="1"/>
          <p:nvPr/>
        </p:nvSpPr>
        <p:spPr>
          <a:xfrm>
            <a:off x="1422400" y="1905000"/>
            <a:ext cx="8890000" cy="431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lang="es-AR" sz="2000" b="0" dirty="0">
                <a:solidFill>
                  <a:srgbClr val="241017"/>
                </a:solidFill>
                <a:latin typeface="IBM Plex Serif"/>
              </a:rPr>
              <a:t>Diagnóstico organizacional</a:t>
            </a:r>
          </a:p>
        </p:txBody>
      </p:sp>
      <p:sp>
        <p:nvSpPr>
          <p:cNvPr id="5" name="TB5"/>
          <p:cNvSpPr txBox="1"/>
          <p:nvPr/>
        </p:nvSpPr>
        <p:spPr>
          <a:xfrm>
            <a:off x="609600" y="2692400"/>
            <a:ext cx="698500" cy="431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lang="es-AR" sz="1600" b="0" dirty="0">
                <a:solidFill>
                  <a:srgbClr val="C2847A"/>
                </a:solidFill>
                <a:latin typeface="IBM Plex Mono SemiBold"/>
              </a:rPr>
              <a:t>02</a:t>
            </a:r>
          </a:p>
        </p:txBody>
      </p:sp>
      <p:sp>
        <p:nvSpPr>
          <p:cNvPr id="6" name="TB6"/>
          <p:cNvSpPr txBox="1"/>
          <p:nvPr/>
        </p:nvSpPr>
        <p:spPr>
          <a:xfrm>
            <a:off x="1422400" y="2692400"/>
            <a:ext cx="8890000" cy="431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lang="es-AR" sz="2000" b="0" dirty="0">
                <a:solidFill>
                  <a:srgbClr val="241017"/>
                </a:solidFill>
                <a:latin typeface="IBM Plex Serif"/>
              </a:rPr>
              <a:t>Arquitectura empresarial actual</a:t>
            </a:r>
          </a:p>
        </p:txBody>
      </p:sp>
      <p:sp>
        <p:nvSpPr>
          <p:cNvPr id="7" name="TB7"/>
          <p:cNvSpPr txBox="1"/>
          <p:nvPr/>
        </p:nvSpPr>
        <p:spPr>
          <a:xfrm>
            <a:off x="609600" y="3479800"/>
            <a:ext cx="698500" cy="431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lang="es-AR" sz="1600" b="0" dirty="0">
                <a:solidFill>
                  <a:srgbClr val="C2847A"/>
                </a:solidFill>
                <a:latin typeface="IBM Plex Mono SemiBold"/>
              </a:rPr>
              <a:t>03</a:t>
            </a:r>
          </a:p>
        </p:txBody>
      </p:sp>
      <p:sp>
        <p:nvSpPr>
          <p:cNvPr id="8" name="TB8"/>
          <p:cNvSpPr txBox="1"/>
          <p:nvPr/>
        </p:nvSpPr>
        <p:spPr>
          <a:xfrm>
            <a:off x="1422400" y="3479800"/>
            <a:ext cx="8890000" cy="431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lang="es-AR" sz="2000" b="0" dirty="0">
                <a:solidFill>
                  <a:srgbClr val="241017"/>
                </a:solidFill>
                <a:latin typeface="IBM Plex Serif"/>
              </a:rPr>
              <a:t>Brechas y oportunidades detectadas</a:t>
            </a:r>
          </a:p>
        </p:txBody>
      </p:sp>
      <p:sp>
        <p:nvSpPr>
          <p:cNvPr id="9" name="TB9"/>
          <p:cNvSpPr txBox="1"/>
          <p:nvPr/>
        </p:nvSpPr>
        <p:spPr>
          <a:xfrm>
            <a:off x="609600" y="4267200"/>
            <a:ext cx="698500" cy="431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lang="es-AR" sz="1600" b="0" dirty="0">
                <a:solidFill>
                  <a:srgbClr val="C2847A"/>
                </a:solidFill>
                <a:latin typeface="IBM Plex Mono SemiBold"/>
              </a:rPr>
              <a:t>04</a:t>
            </a:r>
          </a:p>
        </p:txBody>
      </p:sp>
      <p:sp>
        <p:nvSpPr>
          <p:cNvPr id="10" name="TB10"/>
          <p:cNvSpPr txBox="1"/>
          <p:nvPr/>
        </p:nvSpPr>
        <p:spPr>
          <a:xfrm>
            <a:off x="1422400" y="4267200"/>
            <a:ext cx="8890000" cy="431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lang="es-AR" sz="2000" b="0" dirty="0">
                <a:solidFill>
                  <a:srgbClr val="241017"/>
                </a:solidFill>
                <a:latin typeface="IBM Plex Serif"/>
              </a:rPr>
              <a:t>Propuesta de transformación</a:t>
            </a:r>
          </a:p>
        </p:txBody>
      </p:sp>
      <p:sp>
        <p:nvSpPr>
          <p:cNvPr id="11" name="TB11"/>
          <p:cNvSpPr txBox="1"/>
          <p:nvPr/>
        </p:nvSpPr>
        <p:spPr>
          <a:xfrm>
            <a:off x="609600" y="5054600"/>
            <a:ext cx="698500" cy="431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lang="es-AR" sz="1600" b="0" dirty="0">
                <a:solidFill>
                  <a:srgbClr val="C2847A"/>
                </a:solidFill>
                <a:latin typeface="IBM Plex Mono SemiBold"/>
              </a:rPr>
              <a:t>05</a:t>
            </a:r>
          </a:p>
        </p:txBody>
      </p:sp>
      <p:sp>
        <p:nvSpPr>
          <p:cNvPr id="12" name="TB12"/>
          <p:cNvSpPr txBox="1"/>
          <p:nvPr/>
        </p:nvSpPr>
        <p:spPr>
          <a:xfrm>
            <a:off x="1422400" y="5054600"/>
            <a:ext cx="8890000" cy="431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lang="es-AR" sz="2000" b="0" dirty="0">
                <a:solidFill>
                  <a:srgbClr val="241017"/>
                </a:solidFill>
                <a:latin typeface="IBM Plex Serif"/>
              </a:rPr>
              <a:t>Próximos pasos</a:t>
            </a:r>
          </a:p>
        </p:txBody>
      </p:sp>
      <p:sp>
        <p:nvSpPr>
          <p:cNvPr id="13" name="TB13"/>
          <p:cNvSpPr txBox="1"/>
          <p:nvPr/>
        </p:nvSpPr>
        <p:spPr>
          <a:xfrm>
            <a:off x="11176000" y="6286500"/>
            <a:ext cx="406400" cy="254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lang="es-AR" sz="1000" b="0" dirty="0">
                <a:solidFill>
                  <a:srgbClr val="7D7677"/>
                </a:solidFill>
                <a:latin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B27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 txBox="1"/>
          <p:nvPr/>
        </p:nvSpPr>
        <p:spPr>
          <a:xfrm>
            <a:off x="6096000" y="762000"/>
            <a:ext cx="5486400" cy="5334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lang="es-AR" sz="26000" b="1" dirty="0">
                <a:solidFill>
                  <a:srgbClr val="83414A"/>
                </a:solidFill>
                <a:latin typeface="Poppins ExtraBold"/>
              </a:rPr>
              <a:t>01</a:t>
            </a:r>
          </a:p>
        </p:txBody>
      </p:sp>
      <p:sp>
        <p:nvSpPr>
          <p:cNvPr id="3" name="TB3"/>
          <p:cNvSpPr txBox="1"/>
          <p:nvPr/>
        </p:nvSpPr>
        <p:spPr>
          <a:xfrm>
            <a:off x="609600" y="2857500"/>
            <a:ext cx="7620000" cy="279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lang="es-AR" sz="1200" b="0" dirty="0">
                <a:solidFill>
                  <a:srgbClr val="C2847A"/>
                </a:solidFill>
                <a:latin typeface="IBM Plex Mono Medium"/>
              </a:rPr>
              <a:t>ÉPICA 1 - CONOCER Y DIAGNOSTICAR</a:t>
            </a:r>
          </a:p>
        </p:txBody>
      </p:sp>
      <p:sp>
        <p:nvSpPr>
          <p:cNvPr id="4" name="TB4"/>
          <p:cNvSpPr txBox="1"/>
          <p:nvPr/>
        </p:nvSpPr>
        <p:spPr>
          <a:xfrm>
            <a:off x="609600" y="3200400"/>
            <a:ext cx="6350000" cy="1397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lang="es-AR" sz="4400" b="0" dirty="0">
                <a:solidFill>
                  <a:srgbClr val="FBF6EE"/>
                </a:solidFill>
                <a:latin typeface="Poppins ExtraBold"/>
              </a:rPr>
              <a:t>Diagnóstico y relevamiento</a:t>
            </a:r>
          </a:p>
        </p:txBody>
      </p:sp>
      <p:sp>
        <p:nvSpPr>
          <p:cNvPr id="5" name="Rect5"/>
          <p:cNvSpPr/>
          <p:nvPr/>
        </p:nvSpPr>
        <p:spPr>
          <a:xfrm>
            <a:off x="609600" y="4635500"/>
            <a:ext cx="812800" cy="50800"/>
          </a:xfrm>
          <a:prstGeom prst="rect">
            <a:avLst/>
          </a:prstGeom>
          <a:solidFill>
            <a:srgbClr val="C2847A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 txBox="1"/>
          <p:nvPr/>
        </p:nvSpPr>
        <p:spPr>
          <a:xfrm>
            <a:off x="609600" y="698500"/>
            <a:ext cx="10972800" cy="571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lang="es-AR" sz="2600" b="0" dirty="0">
                <a:solidFill>
                  <a:srgbClr val="6B2737"/>
                </a:solidFill>
                <a:latin typeface="Poppins SemiBold"/>
              </a:rPr>
              <a:t>Arquitectura logística: actual → objetivo</a:t>
            </a:r>
          </a:p>
        </p:txBody>
      </p:sp>
      <p:sp>
        <p:nvSpPr>
          <p:cNvPr id="3" name="TB3"/>
          <p:cNvSpPr txBox="1"/>
          <p:nvPr/>
        </p:nvSpPr>
        <p:spPr>
          <a:xfrm>
            <a:off x="609600" y="1841500"/>
            <a:ext cx="4318000" cy="254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lang="es-AR" sz="1200" b="0" dirty="0">
                <a:solidFill>
                  <a:srgbClr val="7D7677"/>
                </a:solidFill>
                <a:latin typeface="IBM Plex Mono SemiBold"/>
              </a:rPr>
              <a:t>ACTUAL</a:t>
            </a:r>
          </a:p>
        </p:txBody>
      </p:sp>
      <p:sp>
        <p:nvSpPr>
          <p:cNvPr id="4" name="TB4"/>
          <p:cNvSpPr txBox="1"/>
          <p:nvPr/>
        </p:nvSpPr>
        <p:spPr>
          <a:xfrm>
            <a:off x="609600" y="2260600"/>
            <a:ext cx="4318000" cy="241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es-AR" sz="1500" dirty="0">
                <a:solidFill>
                  <a:srgbClr val="4A3138"/>
                </a:solidFill>
                <a:latin typeface="IBM Plex Serif"/>
              </a:rPr>
              <a:t>- Procesos manuales, sin integración al ERP</a:t>
            </a:r>
          </a:p>
          <a:p>
            <a:pPr algn="l">
              <a:lnSpc>
                <a:spcPct val="130000"/>
              </a:lnSpc>
            </a:pPr>
            <a:r>
              <a:rPr lang="es-AR" sz="1500" dirty="0">
                <a:solidFill>
                  <a:srgbClr val="4A3138"/>
                </a:solidFill>
                <a:latin typeface="IBM Plex Serif"/>
              </a:rPr>
              <a:t>- Sin trazabilidad de los envíos</a:t>
            </a:r>
          </a:p>
          <a:p>
            <a:pPr algn="l">
              <a:lnSpc>
                <a:spcPct val="130000"/>
              </a:lnSpc>
            </a:pPr>
            <a:r>
              <a:rPr lang="es-AR" sz="1500" dirty="0">
                <a:solidFill>
                  <a:srgbClr val="4A3138"/>
                </a:solidFill>
                <a:latin typeface="IBM Plex Serif"/>
              </a:rPr>
              <a:t>- Costos y reportes sin consolidar</a:t>
            </a:r>
          </a:p>
        </p:txBody>
      </p:sp>
      <p:sp>
        <p:nvSpPr>
          <p:cNvPr id="5" name="Arrow5"/>
          <p:cNvSpPr/>
          <p:nvPr/>
        </p:nvSpPr>
        <p:spPr>
          <a:xfrm>
            <a:off x="5130800" y="2794000"/>
            <a:ext cx="1016000" cy="584200"/>
          </a:xfrm>
          <a:prstGeom prst="rightArrow">
            <a:avLst/>
          </a:prstGeom>
          <a:solidFill>
            <a:srgbClr val="C2847A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B6"/>
          <p:cNvSpPr txBox="1"/>
          <p:nvPr/>
        </p:nvSpPr>
        <p:spPr>
          <a:xfrm>
            <a:off x="6350000" y="1841500"/>
            <a:ext cx="4318000" cy="254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lang="es-AR" sz="1200" b="0" dirty="0">
                <a:solidFill>
                  <a:srgbClr val="6B2737"/>
                </a:solidFill>
                <a:latin typeface="IBM Plex Mono SemiBold"/>
              </a:rPr>
              <a:t>OBJETIVO</a:t>
            </a:r>
          </a:p>
        </p:txBody>
      </p:sp>
      <p:sp>
        <p:nvSpPr>
          <p:cNvPr id="7" name="TB7"/>
          <p:cNvSpPr txBox="1"/>
          <p:nvPr/>
        </p:nvSpPr>
        <p:spPr>
          <a:xfrm>
            <a:off x="6350000" y="2260600"/>
            <a:ext cx="5232400" cy="241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es-AR" sz="1500" dirty="0">
                <a:solidFill>
                  <a:srgbClr val="4A3138"/>
                </a:solidFill>
                <a:latin typeface="IBM Plex Serif"/>
              </a:rPr>
              <a:t>- Gestión logística integrada al ERP</a:t>
            </a:r>
          </a:p>
          <a:p>
            <a:pPr algn="l">
              <a:lnSpc>
                <a:spcPct val="130000"/>
              </a:lnSpc>
            </a:pPr>
            <a:r>
              <a:rPr lang="es-AR" sz="1500" dirty="0">
                <a:solidFill>
                  <a:srgbClr val="4A3138"/>
                </a:solidFill>
                <a:latin typeface="IBM Plex Serif"/>
              </a:rPr>
              <a:t>- Trazabilidad de punta a punta</a:t>
            </a:r>
          </a:p>
          <a:p>
            <a:pPr algn="l">
              <a:lnSpc>
                <a:spcPct val="130000"/>
              </a:lnSpc>
            </a:pPr>
            <a:r>
              <a:rPr lang="es-AR" sz="1500" dirty="0">
                <a:solidFill>
                  <a:srgbClr val="4A3138"/>
                </a:solidFill>
                <a:latin typeface="IBM Plex Serif"/>
              </a:rPr>
              <a:t>- Reportes automáticos para decidir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 txBox="1"/>
          <p:nvPr/>
        </p:nvSpPr>
        <p:spPr>
          <a:xfrm>
            <a:off x="609600" y="787400"/>
            <a:ext cx="5334000" cy="254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lang="es-AR" sz="1200" b="0" i="0" dirty="0">
                <a:solidFill>
                  <a:srgbClr val="C2847A"/>
                </a:solidFill>
                <a:latin typeface="IBM Plex Mono Medium"/>
              </a:rPr>
              <a:t>CONTEXTO DE MERCADO</a:t>
            </a:r>
          </a:p>
        </p:txBody>
      </p:sp>
      <p:sp>
        <p:nvSpPr>
          <p:cNvPr id="3" name="TB3"/>
          <p:cNvSpPr txBox="1"/>
          <p:nvPr/>
        </p:nvSpPr>
        <p:spPr>
          <a:xfrm>
            <a:off x="558800" y="1117600"/>
            <a:ext cx="6604000" cy="2095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lang="es-AR" sz="11800" b="0" i="0" dirty="0">
                <a:solidFill>
                  <a:srgbClr val="6B2737"/>
                </a:solidFill>
                <a:latin typeface="Poppins ExtraBold"/>
              </a:rPr>
              <a:t>+38%</a:t>
            </a:r>
          </a:p>
        </p:txBody>
      </p:sp>
      <p:sp>
        <p:nvSpPr>
          <p:cNvPr id="4" name="TB4"/>
          <p:cNvSpPr txBox="1"/>
          <p:nvPr/>
        </p:nvSpPr>
        <p:spPr>
          <a:xfrm>
            <a:off x="609600" y="3276600"/>
            <a:ext cx="762000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lang="es-AR" sz="1900" b="0" i="0" dirty="0">
                <a:solidFill>
                  <a:srgbClr val="4A3138"/>
                </a:solidFill>
                <a:latin typeface="IBM Plex Serif"/>
              </a:rPr>
              <a:t>Crecimiento sostenido del comercio electronico uruguayo en el ultimo ano</a:t>
            </a:r>
          </a:p>
        </p:txBody>
      </p:sp>
      <p:sp>
        <p:nvSpPr>
          <p:cNvPr id="5" name="TB5"/>
          <p:cNvSpPr txBox="1"/>
          <p:nvPr/>
        </p:nvSpPr>
        <p:spPr>
          <a:xfrm>
            <a:off x="609600" y="4089400"/>
            <a:ext cx="8128000" cy="1016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lang="es-AR" sz="1400" b="0" i="1" dirty="0">
                <a:solidFill>
                  <a:srgbClr val="7D7677"/>
                </a:solidFill>
                <a:latin typeface="IBM Plex Serif"/>
              </a:rPr>
              <a:t>El canal digital exige mayor disponibilidad de stock, velocidad de entrega y trazabilidad - una oportunidad concreta para IBER.</a:t>
            </a:r>
          </a:p>
        </p:txBody>
      </p:sp>
      <p:sp>
        <p:nvSpPr>
          <p:cNvPr id="6" name="TB6"/>
          <p:cNvSpPr txBox="1"/>
          <p:nvPr/>
        </p:nvSpPr>
        <p:spPr>
          <a:xfrm>
            <a:off x="609600" y="6172200"/>
            <a:ext cx="7620000" cy="254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lang="es-AR" sz="900" b="0" i="0" dirty="0">
                <a:solidFill>
                  <a:srgbClr val="7D7677"/>
                </a:solidFill>
                <a:latin typeface="IBM Plex Mono"/>
              </a:rPr>
              <a:t>FUENTE: RELEVAMIENTO SECTORIAL, EQUIPO NEXTSTEP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B27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 txBox="1"/>
          <p:nvPr/>
        </p:nvSpPr>
        <p:spPr>
          <a:xfrm>
            <a:off x="3556000" y="1117600"/>
            <a:ext cx="5080000" cy="431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lang="es-AR" sz="2000" b="0" dirty="0">
                <a:solidFill>
                  <a:srgbClr val="FBF6EE"/>
                </a:solidFill>
                <a:latin typeface="Poppins ExtraBold"/>
              </a:rPr>
              <a:t>Next</a:t>
            </a:r>
            <a:r>
              <a:rPr lang="es-AR" sz="2000" b="0" dirty="0">
                <a:solidFill>
                  <a:srgbClr val="C2847A"/>
                </a:solidFill>
                <a:latin typeface="Poppins ExtraBold"/>
              </a:rPr>
              <a:t>Step</a:t>
            </a:r>
          </a:p>
        </p:txBody>
      </p:sp>
      <p:sp>
        <p:nvSpPr>
          <p:cNvPr id="3" name="TB3"/>
          <p:cNvSpPr txBox="1"/>
          <p:nvPr/>
        </p:nvSpPr>
        <p:spPr>
          <a:xfrm>
            <a:off x="1651000" y="1841500"/>
            <a:ext cx="8890000" cy="127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lang="es-AR" sz="6000" b="0" i="0" dirty="0">
                <a:solidFill>
                  <a:srgbClr val="FBF6EE"/>
                </a:solidFill>
                <a:latin typeface="Poppins ExtraBold"/>
              </a:rPr>
              <a:t>Gracias</a:t>
            </a:r>
          </a:p>
        </p:txBody>
      </p:sp>
      <p:sp>
        <p:nvSpPr>
          <p:cNvPr id="4" name="TB4"/>
          <p:cNvSpPr txBox="1"/>
          <p:nvPr/>
        </p:nvSpPr>
        <p:spPr>
          <a:xfrm>
            <a:off x="2286000" y="3327400"/>
            <a:ext cx="7620000" cy="508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lang="es-AR" sz="1600" b="0" i="1" dirty="0">
                <a:solidFill>
                  <a:srgbClr val="C2847A"/>
                </a:solidFill>
                <a:latin typeface="IBM Plex Serif"/>
              </a:rPr>
              <a:t>Quedamos a disposicion para la siguiente instancia de revision.</a:t>
            </a:r>
          </a:p>
        </p:txBody>
      </p:sp>
      <p:sp>
        <p:nvSpPr>
          <p:cNvPr id="5" name="TB5"/>
          <p:cNvSpPr txBox="1"/>
          <p:nvPr/>
        </p:nvSpPr>
        <p:spPr>
          <a:xfrm>
            <a:off x="1651000" y="4381500"/>
            <a:ext cx="8890000" cy="304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lang="es-AR" sz="1000" b="0" i="0" dirty="0">
                <a:solidFill>
                  <a:srgbClr val="EEE0CB"/>
                </a:solidFill>
                <a:latin typeface="IBM Plex Mono"/>
              </a:rPr>
              <a:t>equipo@nextstep.consultoria     |     IBER - Sebastian Pensado, Gerente Comercial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xtStep">
  <a:themeElements>
    <a:clrScheme name="NextStep">
      <a:dk1>
        <a:srgbClr val="241017"/>
      </a:dk1>
      <a:lt1>
        <a:srgbClr val="FBF6EE"/>
      </a:lt1>
      <a:dk2>
        <a:srgbClr val="6B2737"/>
      </a:dk2>
      <a:lt2>
        <a:srgbClr val="EEE0CB"/>
      </a:lt2>
      <a:accent1>
        <a:srgbClr val="6B2737"/>
      </a:accent1>
      <a:accent2>
        <a:srgbClr val="C2847A"/>
      </a:accent2>
      <a:accent3>
        <a:srgbClr val="BAA898"/>
      </a:accent3>
      <a:accent4>
        <a:srgbClr val="7D7677"/>
      </a:accent4>
      <a:accent5>
        <a:srgbClr val="EEE0CB"/>
      </a:accent5>
      <a:accent6>
        <a:srgbClr val="4A1B27"/>
      </a:accent6>
      <a:hlink>
        <a:srgbClr val="C2847A"/>
      </a:hlink>
      <a:folHlink>
        <a:srgbClr val="BAA898"/>
      </a:folHlink>
    </a:clrScheme>
    <a:fontScheme name="NextStep">
      <a:majorFont>
        <a:latin typeface="Poppins"/>
        <a:ea typeface=""/>
        <a:cs typeface=""/>
      </a:majorFont>
      <a:minorFont>
        <a:latin typeface="IBM Plex Serif"/>
        <a:ea typeface=""/>
        <a:cs typeface=""/>
      </a:minorFont>
    </a:fontScheme>
    <a:fmtScheme name="NextStep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NextStep Deck Builder</Application>
  <Slides>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NextStep - Plantilla de Presentaciones</dc:title>
  <dc:creator>NextStep</dc:creator>
</cp:coreProperties>
</file>