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960120" cy="82527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91640" y="685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EE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NEXTSTEP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169164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AA8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Consultoría en Tecnología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EE0CB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Caso IBER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46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284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Diagnóstico y transformación digital de la gestión logística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APLSI · Cátedra Piorun · Curso 3 · FCE-UBA · 2026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507492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4A1B2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8680" y="5230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AA8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EQUIPO DE CONSULTORÍA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550468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E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Nardo  ·  Ignacio  ·  Torres  ·  Maggio  ·  Nakasone  ·  Martínez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5230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AA8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SPONSOR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55046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E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Sebastián Pensado — Gerente Comercial, IBER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B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IBER: quiénes son y hacia dónde van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Retail especializado en vinos, bebidas alcohólicas y productos gourmet · Uruguay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749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9525">
            <a:solidFill>
              <a:srgbClr val="BAA898"/>
            </a:solidFill>
            <a:prstDash val="solid"/>
          </a:ln>
          <a:effectLst>
            <a:outerShdw sx="100000" sy="100000" kx="0" ky="0" algn="bl" rotWithShape="0" blurRad="101600" dist="38100" dir="5400000">
              <a:srgbClr val="241017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27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 DE LA ORGANIZACIÓN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2847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~100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992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empleados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24231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2847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30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29992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años en el mercado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4231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2847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9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9992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localidades + canal online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703320"/>
            <a:ext cx="4343400" cy="0"/>
          </a:xfrm>
          <a:prstGeom prst="line">
            <a:avLst/>
          </a:prstGeom>
          <a:noFill/>
          <a:ln w="9525">
            <a:solidFill>
              <a:srgbClr val="BAA89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931920"/>
            <a:ext cx="43434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Modelo multicanal: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locales físicos en todo el país + venta online, con clientes finales, corporativos, HORECA y mayoristas.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Misión: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consolidarse como referente uruguayo en vinos y productos gourmet, con excelencia de servicio y cercanía con el consumidor.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1737360"/>
            <a:ext cx="574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27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OBJETIVOS ESTRATÉGICOS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2048256"/>
            <a:ext cx="5742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Foco 2026 Q4 – 2027 Q1, orientados a digitalizar y optimizar la logística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97880" y="2450592"/>
            <a:ext cx="5742432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9048" y="2679192"/>
            <a:ext cx="310896" cy="310896"/>
          </a:xfrm>
          <a:prstGeom prst="ellipse">
            <a:avLst/>
          </a:prstGeom>
          <a:solidFill>
            <a:srgbClr val="6B273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99048" y="2679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505456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Digitalizar transferencias de mercadería entre depósito y locales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582912" y="250545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284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&gt;99% registradas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582912" y="27797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2026 Q4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97880" y="3346704"/>
            <a:ext cx="5742432" cy="768096"/>
          </a:xfrm>
          <a:prstGeom prst="roundRect">
            <a:avLst>
              <a:gd name="adj" fmla="val 5952"/>
            </a:avLst>
          </a:prstGeom>
          <a:solidFill>
            <a:srgbClr val="EEE0CB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9048" y="3575304"/>
            <a:ext cx="310896" cy="310896"/>
          </a:xfrm>
          <a:prstGeom prst="ellipse">
            <a:avLst/>
          </a:prstGeom>
          <a:solidFill>
            <a:srgbClr val="6B273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099048" y="3575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3401568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Automatizar la selección del proveedor logístico más conveniente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582912" y="34015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284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&gt;90% de envíos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582912" y="36758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2026 Q4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897880" y="4242816"/>
            <a:ext cx="5742432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9048" y="4471416"/>
            <a:ext cx="310896" cy="310896"/>
          </a:xfrm>
          <a:prstGeom prst="ellipse">
            <a:avLst/>
          </a:prstGeom>
          <a:solidFill>
            <a:srgbClr val="6B273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099048" y="4471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4297680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Registrar en el ERP los hitos de cada envío (preparación → entrega)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582912" y="4297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284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&gt;99% de envíos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582912" y="4572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2026 Q4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897880" y="5138928"/>
            <a:ext cx="5742432" cy="768096"/>
          </a:xfrm>
          <a:prstGeom prst="roundRect">
            <a:avLst>
              <a:gd name="adj" fmla="val 5952"/>
            </a:avLst>
          </a:prstGeom>
          <a:solidFill>
            <a:srgbClr val="EEE0CB"/>
          </a:solidFill>
          <a:ln/>
        </p:spPr>
      </p:sp>
      <p:sp>
        <p:nvSpPr>
          <p:cNvPr id="35" name="Shape 33"/>
          <p:cNvSpPr/>
          <p:nvPr/>
        </p:nvSpPr>
        <p:spPr>
          <a:xfrm>
            <a:off x="6099048" y="5367528"/>
            <a:ext cx="310896" cy="310896"/>
          </a:xfrm>
          <a:prstGeom prst="ellipse">
            <a:avLst/>
          </a:prstGeom>
          <a:solidFill>
            <a:srgbClr val="6B273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099048" y="5367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0" y="5193792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Reducir el costo promedio de distribución por pedido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582912" y="51937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284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-20% del costo actual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582912" y="54681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2027 Q1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B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Problemas actuales y la oportunidad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Diagnóstico de la gestión logística de IBER a partir del relevamiento con el sponsor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27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PROBLEMÁTICAS ACTUALES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267712"/>
            <a:ext cx="292608" cy="292608"/>
          </a:xfrm>
          <a:prstGeom prst="ellipse">
            <a:avLst/>
          </a:prstGeom>
          <a:solidFill>
            <a:srgbClr val="C2847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267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212848"/>
            <a:ext cx="5833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Falta de integración entre la gestión logística y el ERP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962656"/>
            <a:ext cx="292608" cy="292608"/>
          </a:xfrm>
          <a:prstGeom prst="ellipse">
            <a:avLst/>
          </a:prstGeom>
          <a:solidFill>
            <a:srgbClr val="C284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62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!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907792"/>
            <a:ext cx="5833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Baja trazabilidad del estado y recorrido de los envíos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292608" cy="292608"/>
          </a:xfrm>
          <a:prstGeom prst="ellipse">
            <a:avLst/>
          </a:prstGeom>
          <a:solidFill>
            <a:srgbClr val="C2847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3602736"/>
            <a:ext cx="5833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Dificultad para planificar y asignar eficientemente el transporte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352544"/>
            <a:ext cx="292608" cy="292608"/>
          </a:xfrm>
          <a:prstGeom prst="ellipse">
            <a:avLst/>
          </a:prstGeom>
          <a:solidFill>
            <a:srgbClr val="C284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4297680"/>
            <a:ext cx="5833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Falta de información consolidada sobre costos y desempeño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047488"/>
            <a:ext cx="292608" cy="292608"/>
          </a:xfrm>
          <a:prstGeom prst="ellipse">
            <a:avLst/>
          </a:prstGeom>
          <a:solidFill>
            <a:srgbClr val="C2847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047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!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4992624"/>
            <a:ext cx="5833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Ausencia de reportes automáticos para el control y la decisión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178040" y="1783080"/>
            <a:ext cx="4462272" cy="2286000"/>
          </a:xfrm>
          <a:prstGeom prst="roundRect">
            <a:avLst>
              <a:gd name="adj" fmla="val 2800"/>
            </a:avLst>
          </a:prstGeom>
          <a:solidFill>
            <a:srgbClr val="4A1B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0" y="199339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84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OPORTUNIDAD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2331720"/>
            <a:ext cx="38221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BF6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Integrar la gestión logística al ERP: planificar y asignar envíos, gestionar proveedores y fleteros, trazar cada operación, imputar costos y generar información para decidir.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4279392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27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PRIORIDAD MUST (primer sprint)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78040" y="4617720"/>
            <a:ext cx="4462272" cy="384048"/>
          </a:xfrm>
          <a:prstGeom prst="roundRect">
            <a:avLst>
              <a:gd name="adj" fmla="val 47619"/>
            </a:avLst>
          </a:prstGeom>
          <a:solidFill>
            <a:srgbClr val="EEE0C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06640" y="461772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US-01 · Digitalizar transferencias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78040" y="5074920"/>
            <a:ext cx="4462272" cy="384048"/>
          </a:xfrm>
          <a:prstGeom prst="roundRect">
            <a:avLst>
              <a:gd name="adj" fmla="val 47619"/>
            </a:avLst>
          </a:prstGeom>
          <a:solidFill>
            <a:srgbClr val="EEE0C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06640" y="507492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US-02 · Selección automática de proveedor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178040" y="5532120"/>
            <a:ext cx="4462272" cy="384048"/>
          </a:xfrm>
          <a:prstGeom prst="roundRect">
            <a:avLst>
              <a:gd name="adj" fmla="val 47619"/>
            </a:avLst>
          </a:prstGeom>
          <a:solidFill>
            <a:srgbClr val="EEE0C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06640" y="553212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US-03 · Trazabilidad de envíos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178040" y="5989320"/>
            <a:ext cx="4462272" cy="384048"/>
          </a:xfrm>
          <a:prstGeom prst="roundRect">
            <a:avLst>
              <a:gd name="adj" fmla="val 47619"/>
            </a:avLst>
          </a:prstGeom>
          <a:solidFill>
            <a:srgbClr val="EEE0C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06640" y="598932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US-04 · Costos logísticos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E0CB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Próximos pasos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284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Épica 2 — Diseñar la transformación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43000" y="3291840"/>
            <a:ext cx="9921240" cy="0"/>
          </a:xfrm>
          <a:prstGeom prst="line">
            <a:avLst/>
          </a:prstGeom>
          <a:noFill/>
          <a:ln w="19050">
            <a:solidFill>
              <a:srgbClr val="BAA8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971800"/>
            <a:ext cx="640080" cy="640080"/>
          </a:xfrm>
          <a:prstGeom prst="ellipse">
            <a:avLst/>
          </a:prstGeom>
          <a:solidFill>
            <a:srgbClr val="C2847A"/>
          </a:solidFill>
          <a:ln w="19050">
            <a:solidFill>
              <a:srgbClr val="EEE0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T-03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84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10/09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069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E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Visión de Arquitectura Destino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971800"/>
            <a:ext cx="640080" cy="640080"/>
          </a:xfrm>
          <a:prstGeom prst="ellipse">
            <a:avLst/>
          </a:prstGeom>
          <a:solidFill>
            <a:srgbClr val="6B2737"/>
          </a:solidFill>
          <a:ln w="19050">
            <a:solidFill>
              <a:srgbClr val="EEE0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4340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T-04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84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17/09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4069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E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Matriz de Brechas y Escenarios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2971800"/>
            <a:ext cx="640080" cy="640080"/>
          </a:xfrm>
          <a:prstGeom prst="ellipse">
            <a:avLst/>
          </a:prstGeom>
          <a:solidFill>
            <a:srgbClr val="6B2737"/>
          </a:solidFill>
          <a:ln w="19050">
            <a:solidFill>
              <a:srgbClr val="EEE0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84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21/09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069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E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Presentación de avance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384280" y="2971800"/>
            <a:ext cx="640080" cy="640080"/>
          </a:xfrm>
          <a:prstGeom prst="ellipse">
            <a:avLst/>
          </a:prstGeom>
          <a:solidFill>
            <a:srgbClr val="6B2737"/>
          </a:solidFill>
          <a:ln w="19050">
            <a:solidFill>
              <a:srgbClr val="EEE0C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38428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T-05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088575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84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24/09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631375" y="4069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E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Alcance y Mercado de Soluciones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8235"/>
            </a:avLst>
          </a:prstGeom>
          <a:solidFill>
            <a:srgbClr val="4A1B2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62356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E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Quedamos a disposición para la siguiente instancia de revisión.  ·  equipo.nextstep@aplsi.com  ·  IBER — Sebastián Pensado, Gerente Comercial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2026-09-03T15:59:36Z</dcterms:created>
  <dcterms:modified xsi:type="dcterms:W3CDTF">2026-09-03T15:59:36Z</dcterms:modified>
</cp:coreProperties>
</file>