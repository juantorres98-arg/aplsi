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logo_pp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13368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A1B2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Caso IBER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461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27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Diagnóstico y transformación digital de la gestión logística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APLSI · Cátedra Piorun · Curso 3 · FCE-UBA · 2026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507492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4A1B2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5230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A89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 DE CONSULTORÍA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50468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Nardo  ·  Ignacio  ·  Torres  ·  Maggio  ·  Nakasone  ·  Martínez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A89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SPONSOR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55046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Sebastián Pensado — Gerente Comercial, IBER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1B2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IBER: quiénes son y hacia dónde van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Retail especializado en vinos, bebidas alcohólicas y productos gourmet · Uruguay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0749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9525">
            <a:solidFill>
              <a:srgbClr val="BAA898"/>
            </a:solidFill>
            <a:prstDash val="solid"/>
          </a:ln>
          <a:effectLst>
            <a:outerShdw sx="100000" sy="100000" kx="0" ky="0" algn="bl" rotWithShape="0" blurRad="101600" dist="38100" dir="5400000">
              <a:srgbClr val="241017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27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DE LA ORGANIZACIÓN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2847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~100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992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empleados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4231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2847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30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9992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años en el mercado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4231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2847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9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29992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localidades + canal online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4343400" cy="0"/>
          </a:xfrm>
          <a:prstGeom prst="line">
            <a:avLst/>
          </a:prstGeom>
          <a:noFill/>
          <a:ln w="9525">
            <a:solidFill>
              <a:srgbClr val="BAA8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931920"/>
            <a:ext cx="4343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multicanal: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locales físicos en todo el país + venta online, con clientes finales, corporativos, HORECA y mayoristas.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Misión: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consolidarse como referente uruguayo en vinos y productos gourmet, con excelencia de servicio y cercanía con el consumidor.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1737360"/>
            <a:ext cx="5742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27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OBJETIVOS ESTRATÉGICOS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04825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Foco 2026 Q4 – 2027 Q1, orientados a digitalizar y optimizar la logística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97880" y="2450592"/>
            <a:ext cx="5742432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9048" y="2679192"/>
            <a:ext cx="310896" cy="310896"/>
          </a:xfrm>
          <a:prstGeom prst="ellipse">
            <a:avLst/>
          </a:prstGeom>
          <a:solidFill>
            <a:srgbClr val="6B273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99048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505456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Digitalizar transferencias de mercadería entre depósito y locales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82912" y="25054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&gt;99% registradas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582912" y="277977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Q4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897880" y="3346704"/>
            <a:ext cx="5742432" cy="768096"/>
          </a:xfrm>
          <a:prstGeom prst="roundRect">
            <a:avLst>
              <a:gd name="adj" fmla="val 5952"/>
            </a:avLst>
          </a:prstGeom>
          <a:solidFill>
            <a:srgbClr val="EEE0CB"/>
          </a:solidFill>
          <a:ln/>
        </p:spPr>
      </p:sp>
      <p:sp>
        <p:nvSpPr>
          <p:cNvPr id="23" name="Shape 21"/>
          <p:cNvSpPr/>
          <p:nvPr/>
        </p:nvSpPr>
        <p:spPr>
          <a:xfrm>
            <a:off x="6099048" y="3575304"/>
            <a:ext cx="310896" cy="310896"/>
          </a:xfrm>
          <a:prstGeom prst="ellipse">
            <a:avLst/>
          </a:prstGeom>
          <a:solidFill>
            <a:srgbClr val="6B273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9048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40156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Automatizar la selección del proveedor logístico más conveniente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82912" y="34015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&gt;90% de envíos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582912" y="36758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Q4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897880" y="4242816"/>
            <a:ext cx="5742432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099048" y="4471416"/>
            <a:ext cx="310896" cy="310896"/>
          </a:xfrm>
          <a:prstGeom prst="ellipse">
            <a:avLst/>
          </a:prstGeom>
          <a:solidFill>
            <a:srgbClr val="6B273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99048" y="4471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4297680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Registrar en el ERP los hitos de cada envío (preparación → entrega)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82912" y="4297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&gt;99% de envíos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82912" y="45720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Q4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897880" y="5138928"/>
            <a:ext cx="5742432" cy="768096"/>
          </a:xfrm>
          <a:prstGeom prst="roundRect">
            <a:avLst>
              <a:gd name="adj" fmla="val 5952"/>
            </a:avLst>
          </a:prstGeom>
          <a:solidFill>
            <a:srgbClr val="EEE0CB"/>
          </a:solidFill>
          <a:ln/>
        </p:spPr>
      </p:sp>
      <p:sp>
        <p:nvSpPr>
          <p:cNvPr id="35" name="Shape 33"/>
          <p:cNvSpPr/>
          <p:nvPr/>
        </p:nvSpPr>
        <p:spPr>
          <a:xfrm>
            <a:off x="6099048" y="5367528"/>
            <a:ext cx="310896" cy="310896"/>
          </a:xfrm>
          <a:prstGeom prst="ellipse">
            <a:avLst/>
          </a:prstGeom>
          <a:solidFill>
            <a:srgbClr val="6B273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099048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0" y="5193792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Reducir el costo promedio de distribución por pedido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82912" y="51937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-20% del costo actual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582912" y="54681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2027 Q1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1B2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Problemas actuales y la oportunidad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Diagnóstico de la gestión logística de IBER a partir del relevamiento con el sponsor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27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PROBLEMÁTICAS ACTUALES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292608" cy="292608"/>
          </a:xfrm>
          <a:prstGeom prst="ellipse">
            <a:avLst/>
          </a:prstGeom>
          <a:solidFill>
            <a:srgbClr val="C284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267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212848"/>
            <a:ext cx="5833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integración entre la gestión logística y el ERP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962656"/>
            <a:ext cx="292608" cy="292608"/>
          </a:xfrm>
          <a:prstGeom prst="ellipse">
            <a:avLst/>
          </a:prstGeom>
          <a:solidFill>
            <a:srgbClr val="C284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907792"/>
            <a:ext cx="5833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Baja trazabilidad del estado y recorrido de los envíos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C284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3602736"/>
            <a:ext cx="5833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Dificultad para planificar y asignar eficientemente el transporte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52544"/>
            <a:ext cx="292608" cy="292608"/>
          </a:xfrm>
          <a:prstGeom prst="ellipse">
            <a:avLst/>
          </a:prstGeom>
          <a:solidFill>
            <a:srgbClr val="C284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297680"/>
            <a:ext cx="5833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información consolidada sobre costos y desempeño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047488"/>
            <a:ext cx="292608" cy="292608"/>
          </a:xfrm>
          <a:prstGeom prst="ellipse">
            <a:avLst/>
          </a:prstGeom>
          <a:solidFill>
            <a:srgbClr val="C284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47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992624"/>
            <a:ext cx="5833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Ausencia de reportes automáticos para el control y la decisión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62272" cy="2286000"/>
          </a:xfrm>
          <a:prstGeom prst="roundRect">
            <a:avLst>
              <a:gd name="adj" fmla="val 2800"/>
            </a:avLst>
          </a:prstGeom>
          <a:solidFill>
            <a:srgbClr val="4A1B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993392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331720"/>
            <a:ext cx="3822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BF6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 la gestión logística al ERP: planificar y asignar envíos, gestionar proveedores y fleteros, trazar cada operación, imputar costos y generar información para decidir.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279392"/>
            <a:ext cx="4462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27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PRIORIDAD MUST (primer sprint)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78040" y="4617720"/>
            <a:ext cx="4462272" cy="384048"/>
          </a:xfrm>
          <a:prstGeom prst="roundRect">
            <a:avLst>
              <a:gd name="adj" fmla="val 47619"/>
            </a:avLst>
          </a:prstGeom>
          <a:solidFill>
            <a:srgbClr val="EEE0C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06640" y="46177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US-01 · Digitalizar transferencias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178040" y="5074920"/>
            <a:ext cx="4462272" cy="384048"/>
          </a:xfrm>
          <a:prstGeom prst="roundRect">
            <a:avLst>
              <a:gd name="adj" fmla="val 47619"/>
            </a:avLst>
          </a:prstGeom>
          <a:solidFill>
            <a:srgbClr val="EEE0C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06640" y="50749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US-02 · Selección automática de proveedor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178040" y="5532120"/>
            <a:ext cx="4462272" cy="384048"/>
          </a:xfrm>
          <a:prstGeom prst="roundRect">
            <a:avLst>
              <a:gd name="adj" fmla="val 47619"/>
            </a:avLst>
          </a:prstGeom>
          <a:solidFill>
            <a:srgbClr val="EEE0C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06640" y="55321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US-03 · Trazabilidad de envíos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178040" y="5989320"/>
            <a:ext cx="4462272" cy="384048"/>
          </a:xfrm>
          <a:prstGeom prst="roundRect">
            <a:avLst>
              <a:gd name="adj" fmla="val 47619"/>
            </a:avLst>
          </a:prstGeom>
          <a:solidFill>
            <a:srgbClr val="EEE0C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59893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1B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US-04 · Costos logísticos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B27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E0CB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Épica 2 — Diseñar la transformación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C284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T-02 · Actual 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03/09 · hoy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691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4A1B2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0" y="16916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T-03 · Destino  </a:t>
            </a:r>
            <a:pPr algn="ctr" indent="0" marL="0">
              <a:buNone/>
            </a:pPr>
            <a:r>
              <a:rPr lang="en-US" sz="12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10/09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11091672" cy="749808"/>
          </a:xfrm>
          <a:prstGeom prst="roundRect">
            <a:avLst>
              <a:gd name="adj" fmla="val 6098"/>
            </a:avLst>
          </a:prstGeom>
          <a:solidFill>
            <a:srgbClr val="FBF6EE">
              <a:alpha val="10000"/>
            </a:srgbClr>
          </a:solidFill>
          <a:ln w="9525">
            <a:solidFill>
              <a:srgbClr val="BAA8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33172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E0CB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Negocio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33172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de procesos actual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33172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33172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Procesos rediseñados para la transformación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63824"/>
            <a:ext cx="11091672" cy="749808"/>
          </a:xfrm>
          <a:prstGeom prst="roundRect">
            <a:avLst>
              <a:gd name="adj" fmla="val 6098"/>
            </a:avLst>
          </a:prstGeom>
          <a:solidFill>
            <a:srgbClr val="FBF6EE">
              <a:alpha val="10000"/>
            </a:srgbClr>
          </a:solidFill>
          <a:ln w="9525">
            <a:solidFill>
              <a:srgbClr val="BAA89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16382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E0CB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Datos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316382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Bases y fuentes de datos actuales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3163824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163824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Capacidades de datos que necesita el destino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995928"/>
            <a:ext cx="11091672" cy="749808"/>
          </a:xfrm>
          <a:prstGeom prst="roundRect">
            <a:avLst>
              <a:gd name="adj" fmla="val 6098"/>
            </a:avLst>
          </a:prstGeom>
          <a:solidFill>
            <a:srgbClr val="FBF6EE">
              <a:alpha val="10000"/>
            </a:srgbClr>
          </a:solidFill>
          <a:ln w="9525">
            <a:solidFill>
              <a:srgbClr val="BAA89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9592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E0CB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Aplicaciones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3995928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de aplicaciones actual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080760" y="399592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3995928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Aplicaciones y servicios que deberían existir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828032"/>
            <a:ext cx="11091672" cy="749808"/>
          </a:xfrm>
          <a:prstGeom prst="roundRect">
            <a:avLst>
              <a:gd name="adj" fmla="val 6098"/>
            </a:avLst>
          </a:prstGeom>
          <a:solidFill>
            <a:srgbClr val="FBF6EE">
              <a:alpha val="10000"/>
            </a:srgbClr>
          </a:solidFill>
          <a:ln w="9525">
            <a:solidFill>
              <a:srgbClr val="BAA89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82803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E0CB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Tecnología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468880" y="482803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Infraestructura y tecnología actual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080760" y="4828032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8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828032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Requerimientos y restricciones tecnológicas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8235"/>
            </a:avLst>
          </a:prstGeom>
          <a:solidFill>
            <a:srgbClr val="4A1B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E0C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Quedamos a disposición para la siguiente instancia de revisión.  ·  equipo.nextstep@aplsi.com  ·  IBER — Sebastián Pensado, Gerente Comercial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2026-09-03T19:34:35Z</dcterms:created>
  <dcterms:modified xsi:type="dcterms:W3CDTF">2026-09-03T19:34:35Z</dcterms:modified>
</cp:coreProperties>
</file>